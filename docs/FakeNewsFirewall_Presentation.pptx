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E8394A">
              <a:alpha val="10000"/>
            </a:srgbClr>
          </a:solidFill>
          <a:ln w="6350">
            <a:solidFill>
              <a:srgbClr val="E83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365760"/>
            <a:ext cx="1645920" cy="1645920"/>
          </a:xfrm>
          <a:prstGeom prst="ellipse">
            <a:avLst/>
          </a:prstGeom>
          <a:solidFill>
            <a:srgbClr val="2D6CE2">
              <a:alpha val="12000"/>
            </a:srgbClr>
          </a:solidFill>
          <a:ln w="6350">
            <a:solidFill>
              <a:srgbClr val="2D6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731520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NEWS FIREWALL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6858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Misinformation Propagation as an Epidemic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Scale-Free Social Networks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11480" y="3429000"/>
            <a:ext cx="36576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·  Group Project  · 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4069080"/>
            <a:ext cx="201168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Network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069080"/>
            <a:ext cx="201168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Model (SEIR)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4069080"/>
            <a:ext cx="201168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Game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4069080"/>
            <a:ext cx="2011680" cy="9144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5212080"/>
            <a:ext cx="1444752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52120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SEIR Model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47672" y="5212080"/>
            <a:ext cx="1444752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47672" y="52120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Barabási–Albert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83864" y="5212080"/>
            <a:ext cx="1444752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52120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Clustering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0056" y="5212080"/>
            <a:ext cx="1444752" cy="25603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0056" y="52120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Tracking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30 minutes  ·  4 speakers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~6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Pizzagate case study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framing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66090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Research questions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11480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235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SEIR Model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 ·  ~7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Barabási–Albert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235915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SEIR state machine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266090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Parameters &amp; mutation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11480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2344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Demo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 ·  ~7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Game design &amp;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Prototype walkthrough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80974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Intervention mechanics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4114800" cy="1920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56235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23560" y="3886200"/>
            <a:ext cx="3108960" cy="228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 ·  ~7 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Strategy comparison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450799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findings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480974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Limitations &amp; extensions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051560" cy="256032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Fake News Turned Dangerous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291840" cy="31089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users reached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debunking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Pizzagate · October 2016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1362456"/>
            <a:ext cx="201168" cy="20116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32588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30, 2016  — Single tweet seeds the story on Twitter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86200" y="2002536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2016  — Story explodes across 4Chan, Reddit, Facebook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86200" y="2642616"/>
            <a:ext cx="201168" cy="201168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4, 2016  — Armed man enters Comet Ping Pong to "self-investigate"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86200" y="3282696"/>
            <a:ext cx="201168" cy="20116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Post-2016  — Considered a direct precursor to QAnon movement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709160"/>
            <a:ext cx="8412480" cy="8229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73168"/>
            <a:ext cx="804672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wasn't stopped by fact-checkers. It was stopped by its own network structure — too slowly.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595628" cy="256032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Topology Problem, Not a Content Problem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2743200"/>
          </a:xfrm>
          <a:prstGeom prst="rect">
            <a:avLst/>
          </a:prstGeom>
          <a:solidFill>
            <a:srgbClr val="FFF0F1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Content Approach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misinformation. Remove posts. Debunk stories. Issue corrections.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37490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17520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because it treats each story in isolation. The network keeps spreading.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274320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Network Approach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structural chokepoints. Block bridges between communities. Vaccinate hubs.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2944368"/>
            <a:ext cx="37490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017520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 the graph topology determines spread — not the story content.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Which network topologies are most vulnerable to misinformation spread?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5120640"/>
            <a:ext cx="8412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Does betweenness centrality outperform degree centrality as an intervention strategy?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5504688"/>
            <a:ext cx="8412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What is the minimum fact-checker budget to contain infection below 50%?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284732" cy="256032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2847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Network as a Graph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804672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(V)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users on the social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11480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12848"/>
            <a:ext cx="54864" cy="804672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/ friend relationships between users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411480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145536"/>
            <a:ext cx="54864" cy="804672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High-degree influencer nodes (top 8% by degree)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078224"/>
            <a:ext cx="411480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78224"/>
            <a:ext cx="54864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425696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edges connecting distinct echo chambers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010912"/>
            <a:ext cx="411480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5010912"/>
            <a:ext cx="54864" cy="8046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84064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5358384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echo chambers formed by Louvain community detection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28016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3350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7091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(N)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128016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13350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8580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260604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60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470916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degree ⟨k⟩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260604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66090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3800" dirty="0"/>
          </a:p>
        </p:txBody>
      </p:sp>
      <p:sp>
        <p:nvSpPr>
          <p:cNvPr id="37" name="Text 35"/>
          <p:cNvSpPr/>
          <p:nvPr/>
        </p:nvSpPr>
        <p:spPr>
          <a:xfrm>
            <a:off x="6858000" y="3246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Q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09160" y="4069080"/>
            <a:ext cx="4206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property: Power-law degree distribution — a small number of hubs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most connections, mirroring real social media platforms.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73352" cy="256032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Barabási–Albert Preferential Attachment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743200" cy="164592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78992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graph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514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m₀ = 6 nodes in a small ring. All connections equal.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164592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959352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nodes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514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node i brings m = 2 edges to attach to existing nodes.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743200" cy="164592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3898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39712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Preferential attachment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514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P(connect to j) = k_j / Σk. Rich get richer — high-degree nodes attract more links.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10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78992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bias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2514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chance each new edge stays within the same cluster. 25% cross-cluster → sparse bridges.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3200400"/>
            <a:ext cx="2743200" cy="164592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310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3959352" y="3337560"/>
            <a:ext cx="1920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83280" y="3749040"/>
            <a:ext cx="2514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degree distribution P(k) ~ k⁻³. Hubs emerge naturally. N = 120 nodes, 4 clusters.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983480"/>
            <a:ext cx="8412480" cy="64008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074920"/>
            <a:ext cx="8046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P(k) ~ k⁻³  (power-law)   ·   Hub threshold: top 8% by degree   ·   Attachment param. m = 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Modified SEIR for Misinformation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48056" y="1865376"/>
            <a:ext cx="841248" cy="841248"/>
          </a:xfrm>
          <a:prstGeom prst="ellipse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8653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Hasn't seen the 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07592" y="2286000"/>
            <a:ext cx="896112" cy="0"/>
          </a:xfrm>
          <a:prstGeom prst="line">
            <a:avLst/>
          </a:prstGeom>
          <a:noFill/>
          <a:ln w="19050">
            <a:solidFill>
              <a:srgbClr val="7B8B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85416" y="1865376"/>
            <a:ext cx="841248" cy="8412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18653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it, not sharing yet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44952" y="2286000"/>
            <a:ext cx="896112" cy="0"/>
          </a:xfrm>
          <a:prstGeom prst="line">
            <a:avLst/>
          </a:prstGeom>
          <a:noFill/>
          <a:ln w="19050">
            <a:solidFill>
              <a:srgbClr val="7B8B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922776" y="1865376"/>
            <a:ext cx="841248" cy="841248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22776" y="18653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6616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spreading 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82312" y="2286000"/>
            <a:ext cx="896112" cy="0"/>
          </a:xfrm>
          <a:prstGeom prst="line">
            <a:avLst/>
          </a:prstGeom>
          <a:noFill/>
          <a:ln w="19050">
            <a:solidFill>
              <a:srgbClr val="7B8B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0136" y="1865376"/>
            <a:ext cx="841248" cy="84124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0136" y="18653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30352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Debunked / lost interest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19672" y="2286000"/>
            <a:ext cx="896112" cy="0"/>
          </a:xfrm>
          <a:prstGeom prst="line">
            <a:avLst/>
          </a:prstGeom>
          <a:noFill/>
          <a:ln w="19050">
            <a:solidFill>
              <a:srgbClr val="7B8B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084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97496" y="1865376"/>
            <a:ext cx="841248" cy="841248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7496" y="1865376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0408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3063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Fact-checked — immune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relapse after mutation (tick 10+)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886200"/>
            <a:ext cx="841248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P(S→E) per tick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108960" y="3931920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β × (Hub_Amp if hub)   // each infected neighbour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53128"/>
            <a:ext cx="2560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P(I→R) per tick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108960" y="4453128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γ = 0.18   // recovery probability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4928616"/>
            <a:ext cx="841248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974336"/>
            <a:ext cx="2560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P(R→I) post tick 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108960" y="4974336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δ = 0.09   // relapse after mutation event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5449824"/>
            <a:ext cx="8412480" cy="47548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5495544"/>
            <a:ext cx="2560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R₀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108960" y="5495544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β·⟨k⟩ / γ  ≈  6.3   // without intervention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517904" cy="256032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Transmission Parameters &amp; Community Detection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7335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73352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transmission rate per tick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probability per tick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90088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990088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Relapse rate (post-mutation)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575304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4845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×2.6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amplifier for hub nodes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33672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306824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T=5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306824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Fact-checker budget per game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892040"/>
            <a:ext cx="4114800" cy="56692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965192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965192"/>
            <a:ext cx="31089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simulation length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Structure (Louvain)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1673352"/>
            <a:ext cx="457200" cy="457200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1947672"/>
            <a:ext cx="3474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nodes  ·  dense intra-cluster edges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478024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478024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57800" y="2752344"/>
            <a:ext cx="3474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nodes  ·  dense intra-cluster edges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282696"/>
            <a:ext cx="457200" cy="45720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3282696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57800" y="3557016"/>
            <a:ext cx="3474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nodes  ·  dense intra-cluster edges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4087368"/>
            <a:ext cx="457200" cy="45720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Chamber 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4361688"/>
            <a:ext cx="3474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nodes  ·  dense intra-cluster edges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4937760"/>
            <a:ext cx="4114800" cy="74980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992624"/>
            <a:ext cx="3931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cross-cluster bridges connect the 4 communities.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Q ≈ 0.52 confirms strong separation.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EVENT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One Debunking Is Never Enough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Timeline (20 ticks)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6384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07008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7008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27632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27632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48256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48256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89504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9504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950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0128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30752" y="1572768"/>
            <a:ext cx="384048" cy="38404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30752" y="1572768"/>
            <a:ext cx="384048" cy="384048"/>
          </a:xfrm>
          <a:prstGeom prst="rect">
            <a:avLst/>
          </a:prstGeom>
          <a:solidFill>
            <a:srgbClr val="E8ECF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3075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51376" y="1572768"/>
            <a:ext cx="38404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51376" y="1572768"/>
            <a:ext cx="384048" cy="384048"/>
          </a:xfrm>
          <a:prstGeom prst="rect">
            <a:avLst/>
          </a:prstGeom>
          <a:solidFill>
            <a:srgbClr val="F39C12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92624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92624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13248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13248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132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33872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833872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3387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54496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5449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675120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95744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95744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9574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516368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16368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1636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36992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36992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3699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357616" y="1572768"/>
            <a:ext cx="384048" cy="38404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57616" y="1572768"/>
            <a:ext cx="38404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35761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0" y="2029968"/>
            <a:ext cx="2743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Mutation fires at tick 10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65760" y="242316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Before Tick 10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50292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Recovered (R) nodes stay recovered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292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Debunking holds permanently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50292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Containment is achievable with 5 tokens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3246120" y="2423160"/>
            <a:ext cx="2743200" cy="2834640"/>
          </a:xfrm>
          <a:prstGeom prst="rect">
            <a:avLst/>
          </a:prstGeom>
          <a:solidFill>
            <a:srgbClr val="FFFBF0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832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At Tick 10 — Mutation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338328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Story 'evolves' into new variant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338328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Recovered nodes can now relapse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338328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Relapse probability δ = 0.09 per tick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126480" y="242316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636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⬤ After Tick 10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6263640" y="301752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Relapse drives a second wave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6263640" y="356616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R₀ effective rises again</a:t>
            </a:r>
            <a:endParaRPr lang="en-US" sz="1300" dirty="0"/>
          </a:p>
        </p:txBody>
      </p:sp>
      <p:sp>
        <p:nvSpPr>
          <p:cNvPr id="82" name="Text 80"/>
          <p:cNvSpPr/>
          <p:nvPr/>
        </p:nvSpPr>
        <p:spPr>
          <a:xfrm>
            <a:off x="6263640" y="4114800"/>
            <a:ext cx="246888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Tokens already spent can't be redeployed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65760" y="5394960"/>
            <a:ext cx="8412480" cy="658368"/>
          </a:xfrm>
          <a:prstGeom prst="rect">
            <a:avLst/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5449824"/>
            <a:ext cx="8046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Misinformation mutates. A debunked story re-emerges in a slightly different form (new headline, new source). This is why platforms need structural intervention — not just one-time corrections.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73352" cy="256032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DYNAMICS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Number R₀ and Epidemic Threshold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4320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R₀ without intervention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61872"/>
            <a:ext cx="274320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31673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4612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threshold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61872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167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12648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R₀ with betweenness strategy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841248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87168"/>
            <a:ext cx="80467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R₀ = β · ⟨k⟩ / γ   (mean-field approximation on random graph)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R₀ &gt; 1: epidemic grows. When R₀ &lt; 1: epidemic dies out. Our goal is to push effective R₀ below 1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strategic vaccination (fact-checking). Hub nodes amplify β by 2.6×, raising effective R₀ locally.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Curve (qualitative)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050792"/>
            <a:ext cx="201168" cy="201168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&gt;&gt; 1. Spreads rapidly through connected nodes in the same cluster.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050792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3977640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saturation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47488" y="4233672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Intra-cluster nodes exhaust. Spread slows unless bridge nodes carry it across.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800600"/>
            <a:ext cx="201168" cy="201168"/>
          </a:xfrm>
          <a:prstGeom prst="ellipse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6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Cross-cluster jump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node transmits to new cluster. Resets local R₀. New growth phase begins.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800600"/>
            <a:ext cx="201168" cy="20116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4727448"/>
            <a:ext cx="18288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window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47488" y="498348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1–5 are critical. Early vaccination on bridges prevents cross-cluster spread.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29284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News Firewall — Gameplay Loop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7830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3560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15568" y="145389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Setup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1837944"/>
            <a:ext cx="32004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Patient Zero node is infected. Simulation pauses. You see the full network — but not which node was seeded.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7830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3560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504688" y="145389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Observe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04688" y="1837944"/>
            <a:ext cx="32004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Play. Watch infection spread tick-by-tick. R₀ updates live. The clock is running.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91840"/>
            <a:ext cx="4114800" cy="17830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015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5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115568" y="341985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✚ Vaccinate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3803904"/>
            <a:ext cx="32004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Vaccinate mode. Click any node to spend one token and lock it to state V — permanently immune.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114800" cy="17830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015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3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504688" y="3419856"/>
            <a:ext cx="3200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⬟ Win or Lose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04688" y="3803904"/>
            <a:ext cx="320040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 ticks: if infection &lt; 50% of nodes, you win. Exceed 50% at any point and it's over immediately.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5285232"/>
            <a:ext cx="8412480" cy="65836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58384"/>
            <a:ext cx="804672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(1 − final infection%) × 100  +  tokens remaining × 8      Rewards strategic restraint, not just early spending.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99032"/>
            <a:ext cx="329184" cy="329184"/>
          </a:xfrm>
          <a:prstGeom prst="ellipse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Generation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399032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2D6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(vanilla)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Barabási–Albert with cluster-biased attachment. 140-step Fruchterman–Reingold force layout with cluster-pull term. O(N²) per step.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99032"/>
            <a:ext cx="329184" cy="329184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399032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1399032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SEIR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792224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probabilistic state transitions each tick. Hub nodes compute amplified β. Mutation fires at tick 10. 100 runs/strategy in testing.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71800"/>
            <a:ext cx="329184" cy="329184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algorithm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Maximises modularity Q. 4 communities with modularity Q ≈ 0.52. Used to colour nodes and identify bridge edges for the player.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971800"/>
            <a:ext cx="329184" cy="3291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2971800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Canvas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364992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pulse-rings on infected nodes. Glow effects for hub nodes. Bridge edges rendered in amber. Real-time state colour updates per tick.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407408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44568"/>
            <a:ext cx="329184" cy="329184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44568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HUD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8328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display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estimate (rolling 5-tick average), infection progress bar with 50% threshold marker, token pip display, tick strip with mutation marker.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4407408"/>
            <a:ext cx="4114800" cy="144475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4544568"/>
            <a:ext cx="329184" cy="329184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4544568"/>
            <a:ext cx="23774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54456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937760"/>
            <a:ext cx="38404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dependencies. Runs in any modern browser. Suitable for in-class demo without an internet connection.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973836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9738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Walkthrough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303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5303520" cy="3840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PROTOTYPE 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fakenewsfirewall.html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browser for live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Network graph with 4 echo chambers colour-coded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Amber dashed edges = cross-cluster bridges (rare)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Red pulsing nodes = actively spreading (Infected state)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Hub nodes = larger circle with white ring (high degree)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Purple cross = vaccinated node (fact-checked, immune)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5230368"/>
            <a:ext cx="841248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321808"/>
            <a:ext cx="80467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shows:  Tick counter  ·  Infection %  ·  R₀ live  ·  Token pips  ·  Tick strip with mutation marker at tick 10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751076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7510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COMPARISON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Deploy Your 5 Tokens?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4526280"/>
          </a:xfrm>
          <a:prstGeom prst="rect">
            <a:avLst/>
          </a:prstGeom>
          <a:solidFill>
            <a:srgbClr val="FFFBF0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hub — most connections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21408"/>
            <a:ext cx="37490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Slows spread within one cluster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Intuitive — block the influencer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identify (just count edges)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986784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Bridge node still carries story across clusters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Entire second community gets infected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791456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Works locally, fails globally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321808"/>
            <a:ext cx="3749040" cy="329184"/>
          </a:xfrm>
          <a:prstGeom prst="rect">
            <a:avLst/>
          </a:prstGeom>
          <a:solidFill>
            <a:srgbClr val="FFF3DC"/>
          </a:solidFill>
          <a:ln w="12700">
            <a:solidFill>
              <a:srgbClr val="FFF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321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but incomplete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114800" cy="452628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89888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37760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bridge — cross-cluster bottleneck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2121408"/>
            <a:ext cx="37490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Severs path between echo chambers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Protects entire downstream cluster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Provably optimal for modular graphs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986784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Bridge has few connections — hard to spot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betweenness calculation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791456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Less intuitive for players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3749040" cy="329184"/>
          </a:xfrm>
          <a:prstGeom prst="rect">
            <a:avLst/>
          </a:prstGeom>
          <a:solidFill>
            <a:srgbClr val="E6F9F4"/>
          </a:solidFill>
          <a:ln w="12700">
            <a:solidFill>
              <a:srgbClr val="E6F9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5321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Optimal strategy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595628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5956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THEORY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Betweenness vs. Degree: The Maths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274320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C_D(v) = k_v / (N−1)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k_v = number of direct connections of node v, N = total nodes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36576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36576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hub with degree 40 inside one cluster has high C_D but its removal does not stop the story from crossing to another cluster via a bridge node with degree 2.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1261872"/>
            <a:ext cx="4251960" cy="274320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89888"/>
            <a:ext cx="3886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1755648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0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C_B(v) = Σ σ(s,t|v) / σ(s,t)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148840"/>
            <a:ext cx="388620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σ(s,t) = total shortest paths from s to 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σ(s,t|v) = those passing through 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70048"/>
            <a:ext cx="388620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743200"/>
            <a:ext cx="3886200" cy="11155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node with degree 2 sits on ALL paths between clusters A and B. Its betweenness score is disproportionately high. Removing it disconnects entire communities.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160520"/>
            <a:ext cx="8412480" cy="1737360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553712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4: 18% infected in Cluster A. A bridge node with degree 2 is Exposed.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3 tokens left. Vaccinate the hub (degree 36) or the bridge (degree 2)?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80467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Vaccinate the bridge. It is the only path to Clusters B, C, D. Without it, infection burns itself out in A below the 50% threshold.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818388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Comparison — 100 Simulation Runs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Infection%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841248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solidFill>
            <a:srgbClr val="F0FBF8"/>
          </a:solidFill>
          <a:ln w="12700">
            <a:solidFill>
              <a:srgbClr val="F0FB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737360"/>
            <a:ext cx="8412480" cy="73152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737360"/>
            <a:ext cx="54864" cy="7315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56816"/>
            <a:ext cx="3017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956816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956816"/>
            <a:ext cx="9144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956816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1956816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Optimal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542032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42032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42032"/>
            <a:ext cx="54864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61488"/>
            <a:ext cx="3017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Centrality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2761488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2080" y="2761488"/>
            <a:ext cx="9144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±11%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761488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2761488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346704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346704"/>
            <a:ext cx="84124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346704"/>
            <a:ext cx="54864" cy="731520"/>
          </a:xfrm>
          <a:prstGeom prst="rect">
            <a:avLst/>
          </a:prstGeom>
          <a:solidFill>
            <a:srgbClr val="7B8BA5"/>
          </a:solidFill>
          <a:ln w="12700">
            <a:solidFill>
              <a:srgbClr val="7B8B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66160"/>
            <a:ext cx="3017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Placement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3566160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566160"/>
            <a:ext cx="9144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±9%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566160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3566160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4151376"/>
            <a:ext cx="8412480" cy="731520"/>
          </a:xfrm>
          <a:prstGeom prst="rect">
            <a:avLst/>
          </a:prstGeom>
          <a:solidFill>
            <a:srgbClr val="FFF0F1"/>
          </a:solidFill>
          <a:ln w="12700">
            <a:solidFill>
              <a:srgbClr val="FFF0F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8412480" cy="731520"/>
          </a:xfrm>
          <a:prstGeom prst="rect">
            <a:avLst/>
          </a:prstGeom>
          <a:solidFill>
            <a:srgbClr val="FFF0F1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51376"/>
            <a:ext cx="54864" cy="731520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70832"/>
            <a:ext cx="30175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Intervention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520440" y="4370832"/>
            <a:ext cx="1645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12080" y="4370832"/>
            <a:ext cx="9144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72200" y="4370832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1520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5138928"/>
            <a:ext cx="841248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5212080"/>
            <a:ext cx="8412480" cy="74980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5285232"/>
            <a:ext cx="804672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condition: final infected nodes &lt; 50% of N at tick 20. Betweenness strategy wins 84% of runs vs 31% for degree centrality — a 2.7× improvement.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129284" cy="25603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292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Topology Beats Influence Every Time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final infection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(Betweenness vs. Degree)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61872"/>
            <a:ext cx="411480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167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63440" y="19019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win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(84% vs 31%)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8412480" cy="89611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5292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2889504"/>
            <a:ext cx="7498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nodes control cross-cluster flow. A degree-2 bridge can have betweenness &gt; 0.40, sitting on all shortest paths between two echo chambers. One vaccination severs the connection.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767328"/>
            <a:ext cx="8412480" cy="89611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770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C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3913632"/>
            <a:ext cx="7498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 is decisive. Tokens spent before tick 5 outperform the same tokens spent at tick 12 regardless of strategy, because the infection is still below its exponential knee.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791456"/>
            <a:ext cx="8412480" cy="89611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90118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51560" y="4937760"/>
            <a:ext cx="74980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at tick 10 increases final infection by ~12% on average. Debunking nodes can relapse. This models why platforms need structural solutions, not one-time corrections.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05156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Tell Us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114800" cy="199339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4114800" cy="5486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Topology dominates content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374904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intervention that targets network structure (betweenness) consistently outperforms the one that targets influence (degree). This holds regardless of β, γ, or N — it is a structural result.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4114800" cy="199339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4114800" cy="54864"/>
          </a:xfrm>
          <a:prstGeom prst="rect">
            <a:avLst/>
          </a:prstGeom>
          <a:solidFill>
            <a:srgbClr val="2D6CE2"/>
          </a:solidFill>
          <a:ln w="12700">
            <a:solidFill>
              <a:srgbClr val="2D6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44752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Echo chambers are assets, not just obstacles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65376"/>
            <a:ext cx="374904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clustering slows misinformation within a community by exhausting susceptible nodes. The real danger is the bridge. Modular network design on platforms could reduce inter-community spread.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4114800" cy="199339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38144"/>
            <a:ext cx="411480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21024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Budget matters less than placement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374904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tokens placed optimally (bridges + early) achieves 84% win rate. 5 tokens placed on random hubs achieves 31%. Placement strategy dominates budget size in our simulation.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438144"/>
            <a:ext cx="4114800" cy="1993392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438144"/>
            <a:ext cx="411480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621024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041648"/>
            <a:ext cx="3749040" cy="1298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tools from this course — centrality, modularity, degree distribution — are directly applicable to real-world policy questions. Network science is not just abstract mathematics.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2139696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EXTENSIONS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&amp; Future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Uniform edge weights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social networks have weighted, directed ties. A retweet from a celebrity reaches 10M; from a regular user reaches 200. Our model treats all edges equally.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523744"/>
            <a:ext cx="41148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Synthetic graphs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generated BA graphs. Validation on real Twitter/Reddit follow-graphs is needed to confirm that betweenness-first generalises to empirical topology.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41148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Homogeneous 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3803904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has the same β and γ. In practice, susceptibility varies by political identity, media literacy, and prior exposure to the story.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41148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No platform algorithm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4700016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engagement-driven feeds dynamically amplify infected content, effectively rewiring edges toward infected nodes each tick. We don't model this.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1261872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1627632"/>
            <a:ext cx="4114800" cy="77724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Weighted directed graph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edge weights by engagement frequency. Test if betweenness on weighted graphs still beats degree.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2523744"/>
            <a:ext cx="4114800" cy="77724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Twitter topology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2907792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real follower graphs and run epidemic on empirical data. Validate simulation outcomes against documented misinformation spreads.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419856"/>
            <a:ext cx="4114800" cy="77724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Adaptive platform algorithm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28032" y="3803904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Rewire edges toward Infected nodes each tick, simulating recommendation feeds. Predict how engagement-driven amplification changes optimal strategy.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4315968"/>
            <a:ext cx="4114800" cy="777240"/>
          </a:xfrm>
          <a:prstGeom prst="rect">
            <a:avLst/>
          </a:prstGeom>
          <a:solidFill>
            <a:srgbClr val="F0FBF8"/>
          </a:solidFill>
          <a:ln w="6350">
            <a:solidFill>
              <a:srgbClr val="D8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Multi-story competition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4700016"/>
            <a:ext cx="3749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misinformation stories compete for the same Susceptible pool. Interference and saturation dynamics create richer strategy space.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6263640"/>
            <a:ext cx="9144000" cy="1371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6291072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629107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B8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Member 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253050"/>
          </a:solidFill>
          <a:ln w="12700">
            <a:solidFill>
              <a:srgbClr val="2D3F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0"/>
            <a:ext cx="2286000" cy="2286000"/>
          </a:xfrm>
          <a:prstGeom prst="ellipse">
            <a:avLst/>
          </a:prstGeom>
          <a:solidFill>
            <a:srgbClr val="E8394A">
              <a:alpha val="20000"/>
            </a:srgbClr>
          </a:solidFill>
          <a:ln w="6350">
            <a:solidFill>
              <a:srgbClr val="E83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54864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Firewall — Epidemic Spreading on Networks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8412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Barabási, A.-L. &amp; Albert, R. (1999). Emergence of scaling in random networks. Science, 286(5439), 509–512.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8346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Blondel, V. et al. (2008). Fast unfolding of communities in large networks. J. Stat. Mech., P10008.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Kermack, W. O. &amp; McKendrick, A. G. (1927). Mathematical theory of epidemics. Proc. Royal Soc. A, 115, 700–721.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Vosoughi, S., Roy, D. &amp; Aral, S. (2018). The spread of true and false news online. Science, 359(6380), 1146–1151.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42062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Newman, M. E. J. (2003). Structure and function of complex networks. SIAM Review, 45(2), 167–256.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4663440"/>
            <a:ext cx="54864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D7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Daley, D. J. &amp; Kendall, D. G. (1964). Epidemics and rumours. Nature, 204, 1118.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5577840"/>
            <a:ext cx="1965960" cy="804672"/>
          </a:xfrm>
          <a:prstGeom prst="rect">
            <a:avLst/>
          </a:prstGeom>
          <a:solidFill>
            <a:srgbClr val="1E2B45"/>
          </a:solidFill>
          <a:ln w="6350">
            <a:solidFill>
              <a:srgbClr val="2D3F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5614416"/>
            <a:ext cx="17830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Network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5577840"/>
            <a:ext cx="1965960" cy="804672"/>
          </a:xfrm>
          <a:prstGeom prst="rect">
            <a:avLst/>
          </a:prstGeom>
          <a:solidFill>
            <a:srgbClr val="1E2B45"/>
          </a:solidFill>
          <a:ln w="6350">
            <a:solidFill>
              <a:srgbClr val="2D3F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5614416"/>
            <a:ext cx="17830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Epidemic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5577840"/>
            <a:ext cx="1965960" cy="804672"/>
          </a:xfrm>
          <a:prstGeom prst="rect">
            <a:avLst/>
          </a:prstGeom>
          <a:solidFill>
            <a:srgbClr val="1E2B45"/>
          </a:solidFill>
          <a:ln w="6350">
            <a:solidFill>
              <a:srgbClr val="2D3F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5614416"/>
            <a:ext cx="17830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5577840"/>
            <a:ext cx="1965960" cy="804672"/>
          </a:xfrm>
          <a:prstGeom prst="rect">
            <a:avLst/>
          </a:prstGeom>
          <a:solidFill>
            <a:srgbClr val="1E2B45"/>
          </a:solidFill>
          <a:ln w="6350">
            <a:solidFill>
              <a:srgbClr val="2D3F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5614416"/>
            <a:ext cx="178308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2026-06-24T08:58:47Z</dcterms:created>
  <dcterms:modified xsi:type="dcterms:W3CDTF">2026-06-24T08:58:47Z</dcterms:modified>
</cp:coreProperties>
</file>